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71" r:id="rId4"/>
    <p:sldId id="280" r:id="rId5"/>
    <p:sldId id="279" r:id="rId6"/>
    <p:sldId id="258" r:id="rId7"/>
    <p:sldId id="263" r:id="rId8"/>
    <p:sldId id="270" r:id="rId9"/>
    <p:sldId id="259" r:id="rId10"/>
    <p:sldId id="260" r:id="rId11"/>
    <p:sldId id="267" r:id="rId12"/>
    <p:sldId id="268" r:id="rId13"/>
    <p:sldId id="25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4880" y="1323597"/>
            <a:ext cx="9144000" cy="2187001"/>
          </a:xfrm>
        </p:spPr>
        <p:txBody>
          <a:bodyPr>
            <a:normAutofit fontScale="90000"/>
          </a:bodyPr>
          <a:p>
            <a:r>
              <a:rPr lang="ru-RU" altLang="ru-RU" sz="3555"/>
              <a:t>Архитектура входного слоя нейронной сети для метода обучения представлений последовательности событий</a:t>
            </a:r>
            <a:endParaRPr lang="ru-RU" altLang="ru-RU" sz="355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951095"/>
            <a:ext cx="9144000" cy="1137285"/>
          </a:xfrm>
        </p:spPr>
        <p:txBody>
          <a:bodyPr/>
          <a:p>
            <a:pPr algn="r"/>
            <a:r>
              <a:rPr lang="ru-RU" altLang="en-US" sz="1800"/>
              <a:t>студент Гусев П. А.</a:t>
            </a:r>
            <a:endParaRPr lang="ru-RU" altLang="en-US" sz="1800"/>
          </a:p>
          <a:p>
            <a:pPr algn="r"/>
            <a:r>
              <a:rPr lang="ru-RU" altLang="en-US" sz="1800"/>
              <a:t>научный руководитель Савченко А. В.</a:t>
            </a:r>
            <a:endParaRPr lang="ru-RU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Проблема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ru-RU" sz="2000"/>
              <a:t>Существующие методы кодирования транзакционных табличных данных обладают следующими недостатками</a:t>
            </a:r>
            <a:r>
              <a:rPr lang="en-US" sz="2000"/>
              <a:t>:</a:t>
            </a:r>
            <a:endParaRPr lang="en-US" altLang="en-US" sz="2000"/>
          </a:p>
          <a:p>
            <a:r>
              <a:rPr lang="en-US" altLang="en-US" sz="2000"/>
              <a:t>1)</a:t>
            </a:r>
            <a:r>
              <a:rPr lang="ru-RU" altLang="en-US" sz="2000"/>
              <a:t> Нужно вручную подбирать размеры слоев эмбеддинга для</a:t>
            </a:r>
            <a:endParaRPr lang="ru-RU" altLang="en-US" sz="2000"/>
          </a:p>
          <a:p>
            <a:r>
              <a:rPr lang="ru-RU" altLang="en-US" sz="2000"/>
              <a:t>отдельных признаков</a:t>
            </a:r>
            <a:endParaRPr lang="ru-RU" altLang="en-US" sz="2000"/>
          </a:p>
          <a:p>
            <a:r>
              <a:rPr lang="ru-RU" altLang="en-US" sz="2000"/>
              <a:t>2) Финальный размер вектора транзакций зависит от количества</a:t>
            </a:r>
            <a:endParaRPr lang="ru-RU" altLang="en-US" sz="2000"/>
          </a:p>
          <a:p>
            <a:r>
              <a:rPr lang="ru-RU" altLang="en-US" sz="2000"/>
              <a:t>признаков</a:t>
            </a:r>
            <a:endParaRPr lang="ru-RU" altLang="en-US" sz="2000"/>
          </a:p>
          <a:p>
            <a:r>
              <a:rPr lang="ru-RU" altLang="en-US" sz="2000"/>
              <a:t>3) Вектор эмбеддинга транзакции получается позиционный по признакам,</a:t>
            </a:r>
            <a:endParaRPr lang="ru-RU" altLang="en-US" sz="2000"/>
          </a:p>
          <a:p>
            <a:r>
              <a:rPr lang="ru-RU" altLang="en-US" sz="2000"/>
              <a:t>возможно избыточный по наличию информации в нем. </a:t>
            </a:r>
            <a:endParaRPr lang="ru-RU" altLang="en-US" sz="2000"/>
          </a:p>
          <a:p>
            <a:r>
              <a:rPr lang="ru-RU" altLang="en-US" sz="2000"/>
              <a:t>Необходимо разработать метод, который бы устранял эти недостатки и работал не хуже оригинала.</a:t>
            </a:r>
            <a:endParaRPr lang="ru-RU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Задача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ru-RU"/>
              <a:t>Разработать эффективный способ кодирования табличных транзакционных данных, </a:t>
            </a:r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Новый подход к кодированию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ru-RU" altLang="en-US"/>
              <a:t>1) Кодирование числовых признаков с помощью разбиения на бины</a:t>
            </a:r>
            <a:endParaRPr lang="ru-RU" altLang="en-US"/>
          </a:p>
          <a:p>
            <a:r>
              <a:rPr lang="ru-RU" altLang="en-US"/>
              <a:t>Производил разбиение интервала в котором лежат значения каждого числового признака на бины по квантилям, после чего определял каждое значение в соответствующую категорию. В итоге получался массив целиком состоящий из категориальных признаков.</a:t>
            </a:r>
            <a:endParaRPr lang="ru-RU" altLang="en-US"/>
          </a:p>
          <a:p>
            <a:r>
              <a:rPr lang="ru-RU" altLang="en-US"/>
              <a:t>2) Построение матрицы соответствий и обучение эмбеддинга </a:t>
            </a:r>
            <a:r>
              <a:rPr lang="en-US" altLang="en-US"/>
              <a:t>GloVE </a:t>
            </a:r>
            <a:r>
              <a:rPr lang="ru-RU" altLang="en-US"/>
              <a:t>на токенизированном массиве данных</a:t>
            </a:r>
            <a:endParaRPr lang="ru-RU" altLang="en-US"/>
          </a:p>
          <a:p>
            <a:r>
              <a:rPr lang="ru-RU" altLang="en-US"/>
              <a:t>Токенизировал категории для каждого признака, создал </a:t>
            </a:r>
            <a:r>
              <a:rPr lang="en-US" altLang="en-US"/>
              <a:t>“</a:t>
            </a:r>
            <a:r>
              <a:rPr lang="ru-RU" altLang="en-US"/>
              <a:t>словарь</a:t>
            </a:r>
            <a:r>
              <a:rPr lang="en-US" altLang="en-US"/>
              <a:t>”</a:t>
            </a:r>
            <a:r>
              <a:rPr lang="ru-RU" altLang="en-US"/>
              <a:t>, содержащий все категории всех признаков. Построил матрицу соответствий - т е матрицу содержищую пары </a:t>
            </a:r>
            <a:r>
              <a:rPr lang="en-US" altLang="en-US"/>
              <a:t>(ci, cj, count) - </a:t>
            </a:r>
            <a:r>
              <a:rPr lang="ru-RU" altLang="en-US"/>
              <a:t>сколько раз значения различных категорий встречались вместе (для значений одной категории </a:t>
            </a:r>
            <a:r>
              <a:rPr lang="en-US" altLang="en-US"/>
              <a:t>count </a:t>
            </a:r>
            <a:r>
              <a:rPr lang="ru-RU" altLang="en-US"/>
              <a:t>всегда 0). Далее использовал матрицу соответствий для обучения эмбеддинга.</a:t>
            </a:r>
            <a:endParaRPr lang="ru-RU" altLang="en-US"/>
          </a:p>
          <a:p>
            <a:r>
              <a:rPr lang="ru-RU" altLang="en-US"/>
              <a:t>3) Кодирование признаков в слое </a:t>
            </a:r>
            <a:r>
              <a:rPr lang="en-US" altLang="ru-RU"/>
              <a:t>trx_encoder + </a:t>
            </a:r>
            <a:r>
              <a:rPr lang="ru-RU" altLang="ru-RU"/>
              <a:t>преобразование над ними.</a:t>
            </a:r>
            <a:endParaRPr lang="ru-RU" altLang="ru-RU"/>
          </a:p>
          <a:p>
            <a:r>
              <a:rPr lang="ru-RU" altLang="ru-RU"/>
              <a:t>ПОсле кодирования признаков, использовались 3 стратегии к их объединению в финальный вектор события - сумма, среднее и конкатенация эмбеддингов признаков для каждого значения в временном ряде. (в таблице результатов скор для этих стратегий подписан </a:t>
            </a:r>
            <a:r>
              <a:rPr lang="en-US" altLang="ru-RU"/>
              <a:t>sum, mean </a:t>
            </a:r>
            <a:r>
              <a:rPr lang="ru-RU" altLang="ru-RU"/>
              <a:t>и </a:t>
            </a:r>
            <a:r>
              <a:rPr lang="en-US" altLang="ru-RU"/>
              <a:t>cat </a:t>
            </a:r>
            <a:r>
              <a:rPr lang="ru-RU" altLang="ru-RU"/>
              <a:t>соответственно)</a:t>
            </a:r>
            <a:endParaRPr lang="ru-RU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1"/>
              <a:t>Параметры</a:t>
            </a:r>
            <a:endParaRPr lang="ru-RU" altLang="en-US" b="1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11173460" cy="2919095"/>
          </a:xfrm>
        </p:spPr>
        <p:txBody>
          <a:bodyPr>
            <a:normAutofit fontScale="90000"/>
          </a:bodyPr>
          <a:p>
            <a:r>
              <a:rPr lang="ru-RU" altLang="en-US" sz="2000"/>
              <a:t>1) Кодирование числовых признаков</a:t>
            </a:r>
            <a:endParaRPr lang="ru-RU" altLang="en-US" sz="2000"/>
          </a:p>
          <a:p>
            <a:r>
              <a:rPr lang="en-US" altLang="en-US" sz="2000"/>
              <a:t>num_bins - </a:t>
            </a:r>
            <a:r>
              <a:rPr lang="ru-RU" altLang="en-US" sz="2000"/>
              <a:t>число бинов на которые разбиваются числовые признаки</a:t>
            </a:r>
            <a:endParaRPr lang="ru-RU" altLang="en-US" sz="2000"/>
          </a:p>
          <a:p>
            <a:r>
              <a:rPr lang="ru-RU" altLang="en-US" sz="2000"/>
              <a:t>2) </a:t>
            </a:r>
            <a:r>
              <a:rPr lang="en-US" altLang="en-US" sz="2000"/>
              <a:t>a</a:t>
            </a:r>
            <a:r>
              <a:rPr lang="ru-RU" altLang="en-US" sz="2000"/>
              <a:t>, </a:t>
            </a:r>
            <a:r>
              <a:rPr lang="en-US" altLang="en-US" sz="2000"/>
              <a:t>x_max - </a:t>
            </a:r>
            <a:r>
              <a:rPr lang="ru-RU" altLang="en-US" sz="2000"/>
              <a:t>параметры используемые при обучении </a:t>
            </a:r>
            <a:r>
              <a:rPr lang="en-US" altLang="en-US" sz="2000"/>
              <a:t>GLoVe </a:t>
            </a:r>
            <a:r>
              <a:rPr lang="ru-RU" altLang="en-US" sz="2000"/>
              <a:t>эмбеддинга. Для лингвистических наилучшими считаются параметры </a:t>
            </a:r>
            <a:r>
              <a:rPr lang="en-US" altLang="en-US" sz="2000"/>
              <a:t>a=0.75, x_max=100, </a:t>
            </a:r>
            <a:r>
              <a:rPr lang="ru-RU" altLang="en-US" sz="2000"/>
              <a:t>однако в статье на которой основывается мое исследование были рассмотрены случаи когда для различных наборов категориальных признаков другие значения этих параметров давали лучший результат. </a:t>
            </a:r>
            <a:endParaRPr lang="ru-RU" altLang="en-US" sz="20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92480" y="5062855"/>
            <a:ext cx="4003040" cy="65786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792480" y="6038850"/>
            <a:ext cx="422592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>
                <a:latin typeface="Calibri Light" panose="020F0302020204030204" pitchFamily="34" charset="0"/>
                <a:cs typeface="Calibri Light" panose="020F0302020204030204" pitchFamily="34" charset="0"/>
              </a:rPr>
              <a:t>Loss - </a:t>
            </a:r>
            <a:r>
              <a:rPr lang="ru-RU" altLang="en-US">
                <a:latin typeface="Calibri Light" panose="020F0302020204030204" pitchFamily="34" charset="0"/>
                <a:cs typeface="Calibri Light" panose="020F0302020204030204" pitchFamily="34" charset="0"/>
              </a:rPr>
              <a:t>функция</a:t>
            </a:r>
            <a:endParaRPr lang="ru-RU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156835"/>
            <a:ext cx="3188335" cy="46990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6224905" y="5961380"/>
            <a:ext cx="422592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>
                <a:latin typeface="Calibri Light" panose="020F0302020204030204" pitchFamily="34" charset="0"/>
                <a:cs typeface="Calibri Light" panose="020F0302020204030204" pitchFamily="34" charset="0"/>
              </a:rPr>
              <a:t>Весовая функция отвечающая за ограничение влияния частоты встречаемости </a:t>
            </a:r>
            <a:endParaRPr lang="ru-RU" alt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CoLES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3834765"/>
            <a:ext cx="9725025" cy="273558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899160" y="1584325"/>
            <a:ext cx="6151880" cy="2251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Self-supervised </a:t>
            </a:r>
            <a:r>
              <a:rPr lang="ru-RU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подход к обучению эмбеддингов транзакционных данных. Модель включает</a:t>
            </a:r>
            <a:r>
              <a:rPr lang="en-US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  <a:endParaRPr lang="ru-RU" altLang="ru-RU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1) </a:t>
            </a:r>
            <a:r>
              <a:rPr lang="ru-RU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Энкодер событий</a:t>
            </a:r>
            <a:endParaRPr lang="ru-RU" altLang="ru-RU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ru-RU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2) Энкодер последовательностей</a:t>
            </a:r>
            <a:endParaRPr lang="ru-RU" altLang="ru-RU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ru-RU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3) </a:t>
            </a:r>
            <a:r>
              <a:rPr lang="en-US" altLang="ru-RU" sz="2000">
                <a:latin typeface="Calibri Light" panose="020F0302020204030204" pitchFamily="34" charset="0"/>
                <a:cs typeface="Calibri Light" panose="020F0302020204030204" pitchFamily="34" charset="0"/>
              </a:rPr>
              <a:t>Contrastive loss</a:t>
            </a:r>
            <a:endParaRPr lang="en-US" altLang="ru-RU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altLang="ru-RU" sz="20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3280410"/>
            <a:ext cx="384492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Тестирование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000"/>
              <a:t>Тестирование производилось через пайплайне </a:t>
            </a:r>
            <a:r>
              <a:rPr lang="en-US" altLang="ru-RU" sz="2000"/>
              <a:t>coles-demo:</a:t>
            </a:r>
            <a:endParaRPr lang="en-US" altLang="ru-RU" sz="2000"/>
          </a:p>
          <a:p>
            <a:r>
              <a:rPr lang="en-US" altLang="ru-RU" sz="2000"/>
              <a:t>1) </a:t>
            </a:r>
            <a:r>
              <a:rPr lang="ru-RU" altLang="ru-RU" sz="2000"/>
              <a:t>Первичная кодировка</a:t>
            </a:r>
            <a:endParaRPr lang="ru-RU" altLang="ru-RU" sz="2000"/>
          </a:p>
          <a:p>
            <a:r>
              <a:rPr lang="ru-RU" altLang="ru-RU" sz="2000"/>
              <a:t>2)</a:t>
            </a:r>
            <a:r>
              <a:rPr lang="ru-RU" altLang="en-US" sz="2000"/>
              <a:t> Обучение эмбеддингов </a:t>
            </a:r>
            <a:r>
              <a:rPr lang="en-US" altLang="en-US" sz="2000"/>
              <a:t>COLeS</a:t>
            </a:r>
            <a:r>
              <a:rPr lang="ru-RU" altLang="en-US" sz="2000"/>
              <a:t>, </a:t>
            </a:r>
            <a:endParaRPr lang="ru-RU" altLang="en-US" sz="2000"/>
          </a:p>
          <a:p>
            <a:r>
              <a:rPr lang="ru-RU" altLang="en-US" sz="2000"/>
              <a:t>3) Тестирование полученного эмбеддинга на </a:t>
            </a:r>
            <a:r>
              <a:rPr lang="en-US" altLang="en-US" sz="2000"/>
              <a:t>random-forest </a:t>
            </a:r>
            <a:r>
              <a:rPr lang="ru-RU" altLang="en-US" sz="2000"/>
              <a:t>классификаторе</a:t>
            </a:r>
            <a:r>
              <a:rPr lang="en-US" altLang="ru-RU" sz="2000"/>
              <a:t> (</a:t>
            </a:r>
            <a:r>
              <a:rPr lang="ru-RU" altLang="en-US" sz="2000"/>
              <a:t>средний скор за 5-10 запусков для стабильности результата</a:t>
            </a:r>
            <a:r>
              <a:rPr lang="en-US" altLang="ru-RU" sz="2000"/>
              <a:t>)</a:t>
            </a:r>
            <a:endParaRPr lang="ru-RU" altLang="en-US" sz="2000"/>
          </a:p>
          <a:p>
            <a:endParaRPr lang="ru-RU" altLang="en-US"/>
          </a:p>
          <a:p>
            <a:r>
              <a:rPr lang="ru-RU" altLang="en-US" sz="2000"/>
              <a:t>Данные</a:t>
            </a:r>
            <a:r>
              <a:rPr lang="en-US" altLang="en-US" sz="2000"/>
              <a:t>:</a:t>
            </a:r>
            <a:endParaRPr lang="en-US" altLang="en-US" sz="2000"/>
          </a:p>
          <a:p>
            <a:r>
              <a:rPr lang="en-US" altLang="en-US" sz="2000"/>
              <a:t>https://storage.yandexcloud.net/ptls-datasets/age-prediction-nti-sbebank-2019.zip</a:t>
            </a:r>
            <a:endParaRPr lang="en-US" altLang="en-US" sz="2000"/>
          </a:p>
          <a:p>
            <a:r>
              <a:rPr lang="en-US" altLang="en-US" sz="2000"/>
              <a:t>https://huggingface.co/datasets/dllllb/transactions-gender</a:t>
            </a:r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</a:t>
            </a:r>
            <a:endParaRPr lang="ru-RU" altLang="en-US"/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7135072" cy="409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615"/>
                <a:gridCol w="2170430"/>
                <a:gridCol w="2330027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Модель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Score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age_bins dataset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Score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gender</a:t>
                      </a:r>
                      <a:r>
                        <a:rPr lang="en-US" altLang="en-US" sz="1400">
                          <a:sym typeface="+mn-ea"/>
                        </a:rPr>
                        <a:t> dataset</a:t>
                      </a:r>
                      <a:endParaRPr lang="en-US" altLang="en-US" sz="1400"/>
                    </a:p>
                  </a:txBody>
                  <a:tcPr/>
                </a:tc>
              </a:tr>
              <a:tr h="86106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модель с базовым входным слоем (</a:t>
                      </a:r>
                      <a:r>
                        <a:rPr lang="en-US" altLang="en-US" sz="1400"/>
                        <a:t>nn.Embedding </a:t>
                      </a:r>
                      <a:r>
                        <a:rPr lang="ru-RU" altLang="en-US" sz="1400"/>
                        <a:t>над категориальными + </a:t>
                      </a:r>
                      <a:r>
                        <a:rPr lang="en-US" altLang="en-US" sz="1400"/>
                        <a:t>cat)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0.573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0.444</a:t>
                      </a:r>
                      <a:endParaRPr lang="ru-RU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glove (a=0.75, x_max=100, num_bins=20)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/>
                        <a:t>cat:</a:t>
                      </a:r>
                      <a:r>
                        <a:rPr lang="ru-RU" altLang="en-US" sz="1400"/>
                        <a:t> 0.576 </a:t>
                      </a:r>
                      <a:r>
                        <a:rPr lang="en-US" altLang="en-US" sz="1400"/>
                        <a:t>mean: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 </a:t>
                      </a:r>
                      <a:r>
                        <a:rPr lang="ru-RU" altLang="en-US" sz="1400"/>
                        <a:t>0.5</a:t>
                      </a:r>
                      <a:r>
                        <a:rPr lang="en-US" altLang="ru-RU" sz="1400"/>
                        <a:t>41 </a:t>
                      </a:r>
                      <a:r>
                        <a:rPr lang="en-US" altLang="en-US" sz="1400"/>
                        <a:t>sum:</a:t>
                      </a:r>
                      <a:r>
                        <a:rPr lang="ru-RU" altLang="en-US" sz="1400"/>
                        <a:t> 0.533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0.4430 </a:t>
                      </a:r>
                      <a:r>
                        <a:rPr lang="en-US" altLang="en-US" sz="1400">
                          <a:sym typeface="+mn-ea"/>
                        </a:rPr>
                        <a:t>mean: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 </a:t>
                      </a:r>
                      <a:r>
                        <a:rPr sz="1400">
                          <a:sym typeface="+mn-ea"/>
                        </a:rPr>
                        <a:t>0.4267</a:t>
                      </a:r>
                      <a:r>
                        <a:rPr lang="en-US" altLang="ru-RU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sum:</a:t>
                      </a:r>
                      <a:r>
                        <a:rPr lang="ru-RU" altLang="en-US" sz="1400">
                          <a:sym typeface="+mn-ea"/>
                        </a:rPr>
                        <a:t> 0.436</a:t>
                      </a:r>
                      <a:endParaRPr lang="ru-RU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ru-RU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glove (a=0.75, x_max=5000, num_bins=50)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0.581 </a:t>
                      </a:r>
                      <a:r>
                        <a:rPr lang="en-US" altLang="en-US" sz="1400">
                          <a:sym typeface="+mn-ea"/>
                        </a:rPr>
                        <a:t>mean: 0.57 sum: 0.561</a:t>
                      </a: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0.4415 </a:t>
                      </a:r>
                      <a:r>
                        <a:rPr lang="en-US" altLang="en-US" sz="1400">
                          <a:sym typeface="+mn-ea"/>
                        </a:rPr>
                        <a:t>mean: </a:t>
                      </a:r>
                      <a:r>
                        <a:rPr lang="ru-RU" altLang="en-US" sz="1400">
                          <a:sym typeface="+mn-ea"/>
                        </a:rPr>
                        <a:t>0.432</a:t>
                      </a:r>
                      <a:r>
                        <a:rPr lang="en-US" altLang="en-US" sz="1400">
                          <a:sym typeface="+mn-ea"/>
                        </a:rPr>
                        <a:t> sum: 0.440</a:t>
                      </a:r>
                      <a:endParaRPr lang="en-US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glove (a=0.75, x_max=15000, num_bins=100)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0.584 </a:t>
                      </a:r>
                      <a:r>
                        <a:rPr lang="en-US" altLang="en-US" sz="1400">
                          <a:sym typeface="+mn-ea"/>
                        </a:rPr>
                        <a:t>mean: 0.544 sum: 0.54</a:t>
                      </a: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0.442 </a:t>
                      </a:r>
                      <a:r>
                        <a:rPr lang="en-US" altLang="en-US" sz="1400">
                          <a:sym typeface="+mn-ea"/>
                        </a:rPr>
                        <a:t>mean: 0.431 sum: 0.4272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glove (a=1, x_max=20000, num_bins=100)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0.575 </a:t>
                      </a:r>
                      <a:r>
                        <a:rPr lang="en-US" altLang="en-US" sz="1400">
                          <a:sym typeface="+mn-ea"/>
                        </a:rPr>
                        <a:t>mean: 0.541 sum: 0.536</a:t>
                      </a: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0.4465 </a:t>
                      </a:r>
                      <a:r>
                        <a:rPr lang="en-US" altLang="en-US" sz="1400">
                          <a:sym typeface="+mn-ea"/>
                        </a:rPr>
                        <a:t>mean: 0.437 sum: 0.442</a:t>
                      </a:r>
                      <a:endParaRPr lang="en-US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ru-RU" sz="4890"/>
              <a:t>Модификация кодирования числовых признаков</a:t>
            </a:r>
            <a:endParaRPr lang="ru-RU" altLang="ru-RU" sz="489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ru-RU" sz="2000"/>
              <a:t>Вместо простого разбиения на бины по квантилям, числовые признаки преобразуются с помощью </a:t>
            </a:r>
            <a:r>
              <a:rPr lang="en-US" altLang="ru-RU" sz="2000"/>
              <a:t>TreeDrivenEncoder</a:t>
            </a:r>
            <a:r>
              <a:rPr lang="en-US" altLang="ru-RU" sz="2000"/>
              <a:t>.  </a:t>
            </a:r>
            <a:endParaRPr lang="en-US" altLang="ru-RU" sz="2000"/>
          </a:p>
          <a:p>
            <a:r>
              <a:rPr lang="en-US" altLang="ru-RU" sz="2000"/>
              <a:t>1) </a:t>
            </a:r>
            <a:r>
              <a:rPr lang="ru-RU" altLang="ru-RU" sz="2000"/>
              <a:t>Обучаем </a:t>
            </a:r>
            <a:r>
              <a:rPr lang="en-US" altLang="ru-RU" sz="2000"/>
              <a:t>XGBRegressor </a:t>
            </a:r>
            <a:r>
              <a:rPr lang="ru-RU" altLang="en-US" sz="2000"/>
              <a:t>с параметром </a:t>
            </a:r>
            <a:r>
              <a:rPr lang="en-US" altLang="en-US" sz="2000"/>
              <a:t>num_trees, </a:t>
            </a:r>
            <a:r>
              <a:rPr lang="ru-RU" altLang="en-US" sz="2000"/>
              <a:t>число деревьев,</a:t>
            </a:r>
            <a:r>
              <a:rPr lang="en-US" altLang="ru-RU" sz="2000"/>
              <a:t> </a:t>
            </a:r>
            <a:r>
              <a:rPr lang="ru-RU" altLang="en-US" sz="2000"/>
              <a:t>в </a:t>
            </a:r>
            <a:r>
              <a:rPr lang="en-US" altLang="en-US" sz="2000"/>
              <a:t>self-supervised </a:t>
            </a:r>
            <a:r>
              <a:rPr lang="ru-RU" altLang="en-US" sz="2000"/>
              <a:t>режиме, т е на предсказание самих данных.</a:t>
            </a:r>
            <a:endParaRPr lang="ru-RU" altLang="en-US" sz="2000"/>
          </a:p>
          <a:p>
            <a:r>
              <a:rPr lang="ru-RU" altLang="en-US" sz="2000"/>
              <a:t>2) Извлекаем из узлов уникальные пары </a:t>
            </a:r>
            <a:r>
              <a:rPr lang="en-US" altLang="ru-RU" sz="2000"/>
              <a:t>(</a:t>
            </a:r>
            <a:r>
              <a:rPr lang="en-US" altLang="en-US" sz="2000"/>
              <a:t>feature,</a:t>
            </a:r>
            <a:r>
              <a:rPr lang="ru-RU" altLang="en-US" sz="2000"/>
              <a:t> </a:t>
            </a:r>
            <a:r>
              <a:rPr lang="en-US" altLang="ru-RU" sz="2000"/>
              <a:t>threshold)</a:t>
            </a:r>
            <a:r>
              <a:rPr lang="ru-RU" altLang="en-US" sz="2000"/>
              <a:t>, отбрасываем редкие.</a:t>
            </a:r>
            <a:endParaRPr lang="en-US" altLang="ru-RU" sz="2000"/>
          </a:p>
          <a:p>
            <a:r>
              <a:rPr lang="ru-RU" altLang="ru-RU" sz="2000"/>
              <a:t>3) Каждый числовой признак бьем на классы, в качестве границ класса используем </a:t>
            </a:r>
            <a:r>
              <a:rPr lang="en-US" altLang="ru-RU" sz="2000"/>
              <a:t>threshold</a:t>
            </a:r>
            <a:r>
              <a:rPr lang="ru-RU" altLang="ru-RU" sz="2000"/>
              <a:t>ы для этого признака. </a:t>
            </a:r>
            <a:endParaRPr lang="ru-RU" altLang="ru-RU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Результаты </a:t>
            </a:r>
            <a:endParaRPr lang="en-US" altLang="en-US"/>
          </a:p>
        </p:txBody>
      </p:sp>
      <p:graphicFrame>
        <p:nvGraphicFramePr>
          <p:cNvPr id="4" name="Замещающее содержимое 3"/>
          <p:cNvGraphicFramePr/>
          <p:nvPr>
            <p:ph idx="1"/>
          </p:nvPr>
        </p:nvGraphicFramePr>
        <p:xfrm>
          <a:off x="647700" y="1825625"/>
          <a:ext cx="676721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585"/>
                <a:gridCol w="2385060"/>
                <a:gridCol w="2361565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1400"/>
                        <a:t>Модель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Score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age_bins dataset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Score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gender</a:t>
                      </a:r>
                      <a:r>
                        <a:rPr lang="en-US" altLang="en-US" sz="1400">
                          <a:sym typeface="+mn-ea"/>
                        </a:rPr>
                        <a:t> dataset</a:t>
                      </a:r>
                      <a:endParaRPr lang="en-US" altLang="en-US" sz="1400"/>
                    </a:p>
                  </a:txBody>
                  <a:tcPr/>
                </a:tc>
              </a:tr>
              <a:tr h="8248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glove (a=0.75, x_max=100, num_trees=3)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/>
                        <a:t>cat:</a:t>
                      </a:r>
                      <a:r>
                        <a:rPr lang="ru-RU" altLang="en-US" sz="1400"/>
                        <a:t> 0.58</a:t>
                      </a:r>
                      <a:r>
                        <a:rPr lang="en-US" altLang="ru-RU" sz="1400"/>
                        <a:t>5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mean: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 </a:t>
                      </a:r>
                      <a:r>
                        <a:rPr sz="1400"/>
                        <a:t>0.56</a:t>
                      </a:r>
                      <a:r>
                        <a:rPr lang="en-US" sz="1400"/>
                        <a:t>3</a:t>
                      </a:r>
                      <a:r>
                        <a:rPr lang="en-US" altLang="ru-RU" sz="1400"/>
                        <a:t> </a:t>
                      </a:r>
                      <a:r>
                        <a:rPr lang="en-US" altLang="en-US" sz="1400"/>
                        <a:t>sum:</a:t>
                      </a:r>
                      <a:r>
                        <a:rPr lang="ru-RU" altLang="en-US" sz="1400"/>
                        <a:t> 0.571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/>
                        <a:t>cat:</a:t>
                      </a:r>
                      <a:r>
                        <a:rPr lang="ru-RU" altLang="en-US" sz="1400"/>
                        <a:t> </a:t>
                      </a:r>
                      <a:r>
                        <a:rPr sz="1400"/>
                        <a:t>0.438</a:t>
                      </a:r>
                      <a:r>
                        <a:rPr lang="ru-RU" altLang="en-US" sz="1400"/>
                        <a:t> </a:t>
                      </a:r>
                      <a:r>
                        <a:rPr lang="en-US" altLang="en-US" sz="1400"/>
                        <a:t>mean:</a:t>
                      </a:r>
                      <a:r>
                        <a:rPr lang="ru-RU" altLang="en-US" sz="1400"/>
                        <a:t> </a:t>
                      </a:r>
                      <a:r>
                        <a:rPr sz="1400"/>
                        <a:t>0.4342</a:t>
                      </a:r>
                      <a:r>
                        <a:rPr lang="en-US" altLang="ru-RU" sz="1400"/>
                        <a:t> </a:t>
                      </a:r>
                      <a:r>
                        <a:rPr lang="en-US" altLang="en-US" sz="1400"/>
                        <a:t>sum:</a:t>
                      </a:r>
                      <a:r>
                        <a:rPr lang="ru-RU" altLang="en-US" sz="1400"/>
                        <a:t> 0.432</a:t>
                      </a:r>
                      <a:endParaRPr lang="ru-RU" altLang="en-US" sz="1400"/>
                    </a:p>
                  </a:txBody>
                  <a:tcPr/>
                </a:tc>
              </a:tr>
              <a:tr h="824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glove (a=0.75, x_max=5000, num_trees=6</a:t>
                      </a:r>
                      <a:r>
                        <a:rPr lang="en-US" altLang="en-US" sz="1400">
                          <a:sym typeface="+mn-ea"/>
                        </a:rPr>
                        <a:t>)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0.59</a:t>
                      </a:r>
                      <a:r>
                        <a:rPr lang="en-US" altLang="ru-RU" sz="1400">
                          <a:sym typeface="+mn-ea"/>
                        </a:rPr>
                        <a:t>1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mean: 0.57 sum: 0.579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sz="1400">
                          <a:sym typeface="+mn-ea"/>
                        </a:rPr>
                        <a:t>0.45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mean: 0.431 sum: 0.44</a:t>
                      </a:r>
                      <a:r>
                        <a:rPr lang="ru-RU" altLang="en-US" sz="1400">
                          <a:sym typeface="+mn-ea"/>
                        </a:rPr>
                        <a:t>2</a:t>
                      </a:r>
                      <a:endParaRPr lang="ru-RU" altLang="en-US" sz="1400">
                        <a:sym typeface="+mn-ea"/>
                      </a:endParaRPr>
                    </a:p>
                  </a:txBody>
                  <a:tcPr/>
                </a:tc>
              </a:tr>
              <a:tr h="824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glove (a=0.75, x_max=15000, num_trees=9</a:t>
                      </a:r>
                      <a:r>
                        <a:rPr lang="en-US" altLang="en-US" sz="1400">
                          <a:sym typeface="+mn-ea"/>
                        </a:rPr>
                        <a:t>)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0.5</a:t>
                      </a:r>
                      <a:r>
                        <a:rPr lang="en-US" altLang="ru-RU" sz="1400">
                          <a:sym typeface="+mn-ea"/>
                        </a:rPr>
                        <a:t>8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mean: 0.572 sum: 0.578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400">
                          <a:sym typeface="+mn-ea"/>
                        </a:rPr>
                        <a:t>cat: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sz="1400">
                          <a:sym typeface="+mn-ea"/>
                        </a:rPr>
                        <a:t>0.45</a:t>
                      </a:r>
                      <a:r>
                        <a:rPr lang="ru-RU" altLang="en-US" sz="1400">
                          <a:sym typeface="+mn-ea"/>
                        </a:rPr>
                        <a:t> </a:t>
                      </a:r>
                      <a:r>
                        <a:rPr lang="en-US" altLang="en-US" sz="1400">
                          <a:sym typeface="+mn-ea"/>
                        </a:rPr>
                        <a:t>mean: 0.433 sum: 0.44</a:t>
                      </a:r>
                      <a:endParaRPr lang="en-US" altLang="en-US" sz="14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Материалы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ru-RU" altLang="en-US" sz="2000"/>
              <a:t>1)https://proceedings.neurips.cc/paper_files/paper/2022/file/9e9f0ffc3d836836ca96cbf8fe14b105-Paper-Conference.pdf</a:t>
            </a:r>
            <a:endParaRPr lang="ru-RU" altLang="en-US" sz="2000"/>
          </a:p>
          <a:p>
            <a:r>
              <a:rPr lang="ru-RU" altLang="en-US" sz="2000"/>
              <a:t>Представление числовых признаков как категориальных</a:t>
            </a:r>
            <a:endParaRPr lang="ru-RU" altLang="en-US" sz="2000"/>
          </a:p>
          <a:p>
            <a:r>
              <a:rPr lang="ru-RU" altLang="en-US" sz="2000"/>
              <a:t>2)http://vigir.missouri.edu/~gdesouza/Research/Conference_CDs/IEEE_WCCI_2020/IJCNN/Papers/N-20889.pdf</a:t>
            </a:r>
            <a:endParaRPr lang="ru-RU" altLang="en-US" sz="2000"/>
          </a:p>
          <a:p>
            <a:r>
              <a:rPr lang="ru-RU" altLang="en-US" sz="2000"/>
              <a:t>GLoVe </a:t>
            </a:r>
            <a:r>
              <a:rPr lang="en-US" altLang="en-US" sz="2000"/>
              <a:t>embedding</a:t>
            </a:r>
            <a:r>
              <a:rPr lang="ru-RU" altLang="en-US" sz="2000"/>
              <a:t> как способ представления категориальных признаков</a:t>
            </a:r>
            <a:endParaRPr lang="ru-RU" altLang="en-US" sz="2000"/>
          </a:p>
          <a:p>
            <a:r>
              <a:rPr lang="ru-RU" altLang="en-US" sz="2000"/>
              <a:t>3)https://aclanthology.org/D14-1162.pdf</a:t>
            </a:r>
            <a:endParaRPr lang="ru-RU" altLang="en-US" sz="2000"/>
          </a:p>
          <a:p>
            <a:r>
              <a:rPr lang="ru-RU" altLang="en-US" sz="2000"/>
              <a:t>Основная статья про </a:t>
            </a:r>
            <a:r>
              <a:rPr lang="ru-RU" altLang="en-US" sz="2000">
                <a:sym typeface="+mn-ea"/>
              </a:rPr>
              <a:t>GLoVe </a:t>
            </a:r>
            <a:r>
              <a:rPr lang="en-US" altLang="en-US" sz="2000">
                <a:sym typeface="+mn-ea"/>
              </a:rPr>
              <a:t>embedding</a:t>
            </a:r>
            <a:endParaRPr lang="en-US" altLang="en-US" sz="2000">
              <a:sym typeface="+mn-ea"/>
            </a:endParaRPr>
          </a:p>
          <a:p>
            <a:r>
              <a:rPr lang="ru-RU" altLang="en-US" sz="2000"/>
              <a:t>4)https://link.springer.com/article/10.1007/s41060-022-00350-z</a:t>
            </a:r>
            <a:endParaRPr lang="ru-RU" altLang="en-US" sz="2000"/>
          </a:p>
          <a:p>
            <a:r>
              <a:rPr lang="ru-RU" altLang="en-US" sz="2000"/>
              <a:t>Кодирование признаков с помощью решающих деревьев</a:t>
            </a:r>
            <a:endParaRPr lang="ru-RU" altLang="en-US" sz="2000"/>
          </a:p>
          <a:p>
            <a:r>
              <a:rPr lang="ru-RU" altLang="en-US" sz="2000"/>
              <a:t>5) https://arxiv.org/pdf/2002.08232</a:t>
            </a:r>
            <a:endParaRPr lang="ru-RU" altLang="en-US" sz="2000"/>
          </a:p>
          <a:p>
            <a:r>
              <a:rPr lang="ru-RU" altLang="en-US" sz="2000"/>
              <a:t>Оригинальная статья </a:t>
            </a:r>
            <a:r>
              <a:rPr lang="en-US" altLang="en-US" sz="2000"/>
              <a:t>CoLES</a:t>
            </a:r>
            <a:endParaRPr lang="en-US" altLang="en-US" sz="2000"/>
          </a:p>
          <a:p>
            <a:r>
              <a:rPr lang="en-US" altLang="en-US" sz="2000"/>
              <a:t>6) https://github.com/everdark00/ptls-glove/tree/main/ptls</a:t>
            </a:r>
            <a:endParaRPr lang="en-US" altLang="en-US" sz="2000"/>
          </a:p>
          <a:p>
            <a:r>
              <a:rPr lang="ru-RU" altLang="en-US" sz="2000"/>
              <a:t>Мой репозиторий проекта</a:t>
            </a:r>
            <a:endParaRPr lang="ru-RU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4961</Words>
  <Application>WPS Presentation</Application>
  <PresentationFormat>宽屏</PresentationFormat>
  <Paragraphs>147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Архитектура входного слоя нейронной сети для метода обучения представлений последовательности событий</vt:lpstr>
      <vt:lpstr>Проблема</vt:lpstr>
      <vt:lpstr>PowerPoint 演示文稿</vt:lpstr>
      <vt:lpstr>Задача</vt:lpstr>
      <vt:lpstr>Новый подход к кодированию</vt:lpstr>
      <vt:lpstr>Параметры</vt:lpstr>
      <vt:lpstr>CoLES</vt:lpstr>
      <vt:lpstr>Тестирование</vt:lpstr>
      <vt:lpstr>Результаты</vt:lpstr>
      <vt:lpstr>Модификация кодирования числовых признаков</vt:lpstr>
      <vt:lpstr>Результаты </vt:lpstr>
      <vt:lpstr>Материалы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</dc:creator>
  <cp:lastModifiedBy>John Dow</cp:lastModifiedBy>
  <cp:revision>53</cp:revision>
  <dcterms:created xsi:type="dcterms:W3CDTF">2024-01-22T08:29:00Z</dcterms:created>
  <dcterms:modified xsi:type="dcterms:W3CDTF">2025-02-03T21:57:10Z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1049-12.2.0.19805</vt:lpwstr>
  </property>
  <property fmtid="{D5CDD505-2E9C-101B-9397-08002B2CF9AE}" pid="3" name="ICV">
    <vt:lpwstr>02650FFF0F3F4661A77BCC9FB23B9756_11</vt:lpwstr>
  </property>
</Properties>
</file>